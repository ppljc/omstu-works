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D3E5D-89F6-4E6F-A0BB-F241AE8C5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3B5F90-D972-43DE-A4EE-19628635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8E1CB8-7B0B-40F1-A1D8-D61207B3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E9EF67-B0EB-4E08-AD96-69C95671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EC890B-8D81-47A9-A007-222133D3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015D0-7738-4004-80DF-79631234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C787B-B6A7-4006-B12B-FBFEAE56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17C65-0AEF-4BCB-89B0-8EB3AEF9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3A8F5F-7C40-4225-83C1-B66CFD26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0C99E-BBE7-4E2F-AEDF-B0E75062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2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3E47D-AFCE-478A-A5BD-A859B63B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9A608D-6FAE-4052-95A9-247B677A3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0C51BC-5144-42F8-80A5-9DE158EA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3A2026-81A9-44FD-AA52-5DF130D3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4F54C9-AA07-46C4-B8A8-6AF26A25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5AA76-5825-4F99-A61C-74031201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B8720C-996E-43EE-B0D7-6C2B0BADB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1C9062-80D9-4967-864E-A2B6894F6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8E07B5-D2FD-424F-9A12-EF996CA6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3C937B-2B14-41C7-8344-5141FBA2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52FDF9-6AC8-4AD1-A290-AA4CBD67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8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9B1BC-8763-4498-BA8E-3873ED4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588CE2-C590-43CD-8523-7C8A6F54B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D9D0A0-65DE-4373-A4B0-AC13A6B33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62640D-AB31-40E9-A016-01C23B076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801276-6519-4EE8-9575-C741E68DA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99804E-534E-44E2-A0AA-FC7FE96A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7872F7-AAB5-48B3-BD65-BBD5F2218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0CD206-1851-4EBD-A0DB-EC8EF39A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6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27684-7EB4-4EEA-BA3E-2CF54930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A06C1D-EF8E-49DB-8045-DC8BBE2C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A3C46E-1D00-4D1D-B7AC-19F42765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D54B6E-33C1-4AA4-B845-136F9218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8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8D52F5-3B3E-4404-B8E8-A77B2C83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EBAF39D-1B68-4015-8CCB-DC255804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2980B5-07BB-42EE-AAEF-C0D11EF9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4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BD96B-5A0A-4A70-B7D3-DA01D8AC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DADC4C-BF27-4744-BFF3-BCA81450E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711CAE-29F8-4663-8D39-55A140AC4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582ECB-8B46-4CF3-9C6A-B290872C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78D358-B173-44FF-960D-127090D0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65C6CA-72B4-4EAA-91AB-83817C9B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8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60001-66C0-4E55-87F2-680DC3FCB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66148C-FBE9-4A9B-9DC3-A35D15727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057F0B-81D0-4301-8CC3-BFAC8CED4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C94A25-F6F0-4FFD-A4D8-CD3BB60C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2429AD-96E7-4A86-AFF8-EBAAF3CF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948DBC-DD85-4941-B60B-F297B364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7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38012-4F4A-42B4-B6FF-4116B3A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BF89FB-1DC5-4120-AC7D-11FBDCA5A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B424B-157B-44C8-9463-C8867DA7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0FB7F0-B8D5-4A5F-BE0E-D5121950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061BE4-44A6-4B94-89D6-1F7F89B7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7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D96BA4-40AC-48AC-B663-33CCC9E15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2AC1D7-E429-44B3-B117-470F225CC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9DC95-A2A7-4979-B9BE-746F207C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D40F5-BE6A-436D-9BCD-DEBE5E1A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A1025-193F-4292-B5E2-16EB0A16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8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A641D-7246-45EC-AD59-09093B16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1315EC-2307-4D3A-8BC1-D60A5725B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52482E-CA35-429B-A08C-8FC833E28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BCFC3-C50E-4294-A025-8883DEEF753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DB2670-4432-4EAE-AC33-B7486B1E5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0B0C51-EACF-41CC-A4D3-421BC862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CBA71-8FE0-4B6E-99A3-C77D54F3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7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7C7CE-8FC9-4A9B-BF5E-26FA961F6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4277"/>
            <a:ext cx="9144000" cy="160944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модели работы звукового синтезатора и компьютерной игры»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98BF6-41E7-4240-887A-1FBBD4D40E50}"/>
              </a:ext>
            </a:extLst>
          </p:cNvPr>
          <p:cNvSpPr txBox="1"/>
          <p:nvPr/>
        </p:nvSpPr>
        <p:spPr>
          <a:xfrm>
            <a:off x="1371600" y="304800"/>
            <a:ext cx="944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РФ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«Омский государственный 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EE6EB-50C3-42E0-A676-7060002BABE7}"/>
              </a:ext>
            </a:extLst>
          </p:cNvPr>
          <p:cNvSpPr txBox="1"/>
          <p:nvPr/>
        </p:nvSpPr>
        <p:spPr>
          <a:xfrm>
            <a:off x="4643718" y="5629869"/>
            <a:ext cx="6176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гр. ИВТ-244                              Шмидт А.В.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 преподаватель, к.т.н. доцент         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Шафеева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О.П.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03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913093" y="791958"/>
            <a:ext cx="4365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0675E-1A46-4760-BB6C-EEE47731AACA}"/>
              </a:ext>
            </a:extLst>
          </p:cNvPr>
          <p:cNvSpPr txBox="1"/>
          <p:nvPr/>
        </p:nvSpPr>
        <p:spPr>
          <a:xfrm>
            <a:off x="1116105" y="2259449"/>
            <a:ext cx="99597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Цель работы – разработка и отладка программы «Звуковой синтезатор» и игры «Морской раунд». А так же закрепление навыков и знаний о языке программирования С/С++.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8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913093" y="791958"/>
            <a:ext cx="4365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0675E-1A46-4760-BB6C-EEE47731AACA}"/>
              </a:ext>
            </a:extLst>
          </p:cNvPr>
          <p:cNvSpPr txBox="1"/>
          <p:nvPr/>
        </p:nvSpPr>
        <p:spPr>
          <a:xfrm>
            <a:off x="1116105" y="2259449"/>
            <a:ext cx="995978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3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Разработать программу «Звуковой синтезатор».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Разработать игру «Морской бой».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3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Объединить подпрограммы в удобную программу.</a:t>
            </a:r>
            <a:endParaRPr lang="ru-RU" sz="3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90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652182" y="2274838"/>
            <a:ext cx="5443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главного меню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CC4960-A73B-457D-8F34-55A9D35B0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972" y="1162991"/>
            <a:ext cx="2404744" cy="453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2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1826558" y="33662"/>
            <a:ext cx="8671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подпрограмм главного меню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7AC727-B697-451F-AA6E-6CCC61A75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74" y="1792941"/>
            <a:ext cx="10730651" cy="47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813546" y="2274838"/>
            <a:ext cx="52824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графической заставки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DCCA9A-88FE-42CF-853C-16AB10B3B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080" y="0"/>
            <a:ext cx="2200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2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813546" y="2274837"/>
            <a:ext cx="52824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информации об авторе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0F2548-9FA8-4C50-83BE-3852C238B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300" y="461681"/>
            <a:ext cx="2702903" cy="593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6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1028699" y="2274838"/>
            <a:ext cx="506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</a:t>
            </a:r>
          </a:p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звукового синтезатора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007127-0557-42A7-9A95-8FCE06E1A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70964"/>
            <a:ext cx="4932437" cy="531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0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275230" y="2165920"/>
            <a:ext cx="506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игры «Морской бой»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44CCD7-7298-432C-ADAB-F76168533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967" y="1504958"/>
            <a:ext cx="2327660" cy="38480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E123D9-F906-4A37-8939-E9A72578C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192" y="258492"/>
            <a:ext cx="2849924" cy="61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2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275230" y="2165920"/>
            <a:ext cx="506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игры «Морской бой»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03D169-BACB-445B-A1DF-DD1978E80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558" y="224118"/>
            <a:ext cx="2707825" cy="60601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714068-3F3B-4AFF-9968-B976FA59A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410" y="403412"/>
            <a:ext cx="2874354" cy="565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9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275230" y="2165920"/>
            <a:ext cx="506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игры «Морской бой»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7540A9-C833-4E85-84C9-54678BF96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814" y="0"/>
            <a:ext cx="2751971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7EB33E-C4A2-4F1E-AB90-D53277204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785" y="1472925"/>
            <a:ext cx="3432345" cy="369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5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663937-B113-44C3-BD4A-E7D4ABEAB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047" y="1690158"/>
            <a:ext cx="7758478" cy="48668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6A4877-6397-4738-B910-404D22340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687" y="170005"/>
            <a:ext cx="2624838" cy="30396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248336" y="170005"/>
            <a:ext cx="5067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игры «Морской бой»</a:t>
            </a:r>
          </a:p>
        </p:txBody>
      </p:sp>
    </p:spTree>
    <p:extLst>
      <p:ext uri="{BB962C8B-B14F-4D97-AF65-F5344CB8AC3E}">
        <p14:creationId xmlns:p14="http://schemas.microsoft.com/office/powerpoint/2010/main" val="3833416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562347" y="261125"/>
            <a:ext cx="506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4F22C6-71A0-4D8F-8ACE-8853CE7BF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98" y="1501376"/>
            <a:ext cx="83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7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562347" y="261125"/>
            <a:ext cx="506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Интро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38C099-F01D-4897-BB6A-ADA749E34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98" y="1501376"/>
            <a:ext cx="832000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40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562347" y="261125"/>
            <a:ext cx="5067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 авторе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19D0B9-F3C9-4830-8E42-22B293623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99" y="1501376"/>
            <a:ext cx="83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56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094502" y="261125"/>
            <a:ext cx="6002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Звуковой синтезатор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C9A120-51F3-4FC2-A476-DFCB47627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99" y="1501376"/>
            <a:ext cx="83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75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3094502" y="261125"/>
            <a:ext cx="6002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«Морской бой»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D71B41-6A72-4455-82AA-DCFE2CAEA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999" y="1501376"/>
            <a:ext cx="832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47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2210638" y="547995"/>
            <a:ext cx="7770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синтезатора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68C6239-6F58-4A21-888B-7C9D5CB2F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5275"/>
              </p:ext>
            </p:extLst>
          </p:nvPr>
        </p:nvGraphicFramePr>
        <p:xfrm>
          <a:off x="2948304" y="2228468"/>
          <a:ext cx="6295390" cy="240106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98040">
                  <a:extLst>
                    <a:ext uri="{9D8B030D-6E8A-4147-A177-3AD203B41FA5}">
                      <a16:colId xmlns:a16="http://schemas.microsoft.com/office/drawing/2014/main" val="2408056407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1350604930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4040918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Тестируемое действие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Ожидаемый результат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Полученный результат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31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 dirty="0">
                          <a:effectLst/>
                        </a:rPr>
                        <a:t>Нажатие клавиш 1-7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Воспроизведение нот, соответствующих клавишам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Звуки необходимой частоты воспроизводятся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7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Нажатие клавиши </a:t>
                      </a:r>
                      <a:r>
                        <a:rPr lang="en-US" sz="1400">
                          <a:effectLst/>
                        </a:rPr>
                        <a:t>ESC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Выход в главное меню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Программа возвращает пользователя в главное меню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0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Нажатие любых других клавиш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>
                          <a:effectLst/>
                        </a:rPr>
                        <a:t>Ничего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400" dirty="0">
                          <a:effectLst/>
                        </a:rPr>
                        <a:t>Программа ничего не делает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741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517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1022814" y="252161"/>
            <a:ext cx="10146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игры «Морской бой»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06C95D3-548B-4B13-9CB7-7A003A7AA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139260"/>
              </p:ext>
            </p:extLst>
          </p:nvPr>
        </p:nvGraphicFramePr>
        <p:xfrm>
          <a:off x="797857" y="1349761"/>
          <a:ext cx="10596282" cy="499636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1148233485"/>
                    </a:ext>
                  </a:extLst>
                </a:gridCol>
                <a:gridCol w="5082629">
                  <a:extLst>
                    <a:ext uri="{9D8B030D-6E8A-4147-A177-3AD203B41FA5}">
                      <a16:colId xmlns:a16="http://schemas.microsoft.com/office/drawing/2014/main" val="3584860980"/>
                    </a:ext>
                  </a:extLst>
                </a:gridCol>
                <a:gridCol w="3532452">
                  <a:extLst>
                    <a:ext uri="{9D8B030D-6E8A-4147-A177-3AD203B41FA5}">
                      <a16:colId xmlns:a16="http://schemas.microsoft.com/office/drawing/2014/main" val="282060972"/>
                    </a:ext>
                  </a:extLst>
                </a:gridCol>
              </a:tblGrid>
              <a:tr h="6867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Тестируемое действие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Ожидаемый результат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Полученный результат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57858"/>
                  </a:ext>
                </a:extLst>
              </a:tr>
              <a:tr h="45040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клавиш А-К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столбца на поле красным цветом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И, если выделена строка, то выделение пересечения серым цветом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Столбец выделяется красным цветом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При уже выделенной строке место пересечения выделяется серым цветом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158027"/>
                  </a:ext>
                </a:extLst>
              </a:tr>
              <a:tr h="45040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клавиш 1-0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строки на поле синим цветом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И, если выделен столбец, то выделение пересечения серым цветом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Строка выделяется синим цветом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При уже выделенном столбце место пересечения выделяется серым цветом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544455"/>
                  </a:ext>
                </a:extLst>
              </a:tr>
              <a:tr h="52674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клавиши</a:t>
                      </a:r>
                      <a:r>
                        <a:rPr lang="en-US" sz="1000">
                          <a:effectLst/>
                        </a:rPr>
                        <a:t> Space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Сброс выделения клеток на поле, если были выделены строка, столбец или и строка, и столбец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Ничего, если выделение отсутствовало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клеток пропадает с поля, если оно было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Ничего не происходит, если клетки не были выделены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291215"/>
                  </a:ext>
                </a:extLst>
              </a:tr>
              <a:tr h="45040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 dirty="0">
                          <a:effectLst/>
                        </a:rPr>
                        <a:t>Нажатие клавиши </a:t>
                      </a:r>
                      <a:r>
                        <a:rPr lang="en-US" sz="1000" dirty="0">
                          <a:effectLst/>
                        </a:rPr>
                        <a:t>TAB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на поле клеток, где находятся корабли символом «Х»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клеток не изменяется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 поле появляются символы «Х» в тех местах, где расположены корабли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Выделение клеток не изменяется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636500"/>
                  </a:ext>
                </a:extLst>
              </a:tr>
              <a:tr h="90847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клавиши </a:t>
                      </a:r>
                      <a:r>
                        <a:rPr lang="en-US" sz="1000">
                          <a:effectLst/>
                        </a:rPr>
                        <a:t>Enter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Если выделена и строка, и столбец, то появление символа «Х» или «·» в зависимости от наличия корабля на клетке, а выделение сбрасывается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Если выделена только строка, только столбец или ничего не выделено, то ничего не происходит и выделение не сбрасывается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При выделенных и строке, и столбце появляется символ «Х» или «·» в зависимости от попадания в корабль, а выделение пропадает с поля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Если выделена только строка, только столбец или ничего не выделено, то на поле ничего не меняется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434002"/>
                  </a:ext>
                </a:extLst>
              </a:tr>
              <a:tr h="832133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Генерация кораблей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Создание матрицы, которая хранит расположение 10 кораблей (4 по 1 клетке, 3 по 2, 2 по 3 и 1 на 4)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Корабли не должны быть расположены рядом друг с другом в пределах одной клетки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Каждая генерация должна быть случайной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Матрица с кораблями создаётся, все 10 кораблей расположены согласно правилу, что не соприкасаются друг с другом</a:t>
                      </a:r>
                      <a:endParaRPr lang="en-US" sz="1000">
                        <a:effectLst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При перезапуске игры каждый раз расположение разное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60310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Перезапуск игры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Корабли расположены в ином порядке, нежели при предыдущем запуске игры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Генерируются случайные наборы кораблей каждый раз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959500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</a:t>
                      </a:r>
                      <a:r>
                        <a:rPr lang="en-US" sz="1000">
                          <a:effectLst/>
                        </a:rPr>
                        <a:t>ESC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Возврат в главное меню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Программа возвращает пользователя в главное меню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85068"/>
                  </a:ext>
                </a:extLst>
              </a:tr>
              <a:tr h="14501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Нажатие любых других клавиш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>
                          <a:effectLst/>
                        </a:rPr>
                        <a:t>Ничего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ru-RU" sz="1000" dirty="0">
                          <a:effectLst/>
                        </a:rPr>
                        <a:t>Программа ничего не делает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877" marR="188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0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525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FDE81-A0EF-432D-BDAE-39F568FE279B}"/>
              </a:ext>
            </a:extLst>
          </p:cNvPr>
          <p:cNvSpPr txBox="1"/>
          <p:nvPr/>
        </p:nvSpPr>
        <p:spPr>
          <a:xfrm>
            <a:off x="1022814" y="252161"/>
            <a:ext cx="10146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BEB3D-A92B-4D18-8A80-C82E00F3755A}"/>
              </a:ext>
            </a:extLst>
          </p:cNvPr>
          <p:cNvSpPr txBox="1"/>
          <p:nvPr/>
        </p:nvSpPr>
        <p:spPr>
          <a:xfrm>
            <a:off x="865092" y="1694330"/>
            <a:ext cx="1046181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курсовой работы были успешно разработаны звуковой синтезатор и игра «Морской бой». Все цели проекта достигнуты в полном объеме, что свидетельствует о готовности программного комплекса к практическому использованию. Выполнение проекта способствовало углублению знаний в области системного программирования и дало ценный опыт в разработке программных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25802345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631</Words>
  <Application>Microsoft Office PowerPoint</Application>
  <PresentationFormat>Широкоэкранный</PresentationFormat>
  <Paragraphs>86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Курсовой проект на тему: «Разработка модели работы звукового синтезатора и компьютерной игры»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на тему: «Разработка модели работы звукового синтезатора и компьютерной игры»</dc:title>
  <dc:creator>Антон Шмидт</dc:creator>
  <cp:lastModifiedBy>Антон Шмидт</cp:lastModifiedBy>
  <cp:revision>6</cp:revision>
  <dcterms:created xsi:type="dcterms:W3CDTF">2025-05-27T17:28:09Z</dcterms:created>
  <dcterms:modified xsi:type="dcterms:W3CDTF">2025-05-27T18:13:37Z</dcterms:modified>
</cp:coreProperties>
</file>